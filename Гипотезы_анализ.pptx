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64" d="100"/>
          <a:sy n="64" d="100"/>
        </p:scale>
        <p:origin x="1632" y="6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11/2/2025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E1E3C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237544" y="1828800"/>
            <a:ext cx="8668913" cy="64633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400" b="1">
                <a:solidFill>
                  <a:srgbClr val="50AAFA"/>
                </a:solidFill>
              </a:defRPr>
            </a:pPr>
            <a:r>
              <a:rPr sz="3600" dirty="0"/>
              <a:t>📊 </a:t>
            </a:r>
            <a:r>
              <a:rPr sz="3600" dirty="0" err="1"/>
              <a:t>Анализ</a:t>
            </a:r>
            <a:r>
              <a:rPr sz="3600" dirty="0"/>
              <a:t> 15 </a:t>
            </a:r>
            <a:r>
              <a:rPr sz="3600" dirty="0" err="1"/>
              <a:t>гипотез</a:t>
            </a:r>
            <a:r>
              <a:rPr sz="3600" dirty="0"/>
              <a:t> </a:t>
            </a:r>
            <a:r>
              <a:rPr sz="3600" dirty="0" err="1"/>
              <a:t>по</a:t>
            </a:r>
            <a:r>
              <a:rPr sz="3600" dirty="0"/>
              <a:t> </a:t>
            </a:r>
            <a:r>
              <a:rPr sz="3600" dirty="0" err="1"/>
              <a:t>данным</a:t>
            </a:r>
            <a:r>
              <a:rPr sz="3600" dirty="0"/>
              <a:t> о </a:t>
            </a:r>
            <a:r>
              <a:rPr sz="3600" dirty="0" err="1"/>
              <a:t>людях</a:t>
            </a:r>
            <a:endParaRPr sz="3600" dirty="0"/>
          </a:p>
        </p:txBody>
      </p:sp>
      <p:sp>
        <p:nvSpPr>
          <p:cNvPr id="4" name="TextBox 3"/>
          <p:cNvSpPr txBox="1"/>
          <p:nvPr/>
        </p:nvSpPr>
        <p:spPr>
          <a:xfrm>
            <a:off x="1828800" y="3657600"/>
            <a:ext cx="54864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E6E6E6"/>
                </a:solidFill>
              </a:defRPr>
            </a:pPr>
            <a:r>
              <a:t>Исследование связи образования, возраста, судимости и зарплаты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E1E3C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292623" y="316914"/>
            <a:ext cx="8558753" cy="5232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50AAFA"/>
                </a:solidFill>
              </a:defRPr>
            </a:pPr>
            <a:r>
              <a:rPr sz="2800" dirty="0"/>
              <a:t>1️⃣ </a:t>
            </a:r>
            <a:r>
              <a:rPr sz="2800" dirty="0" err="1"/>
              <a:t>Средняя</a:t>
            </a:r>
            <a:r>
              <a:rPr sz="2800" dirty="0"/>
              <a:t> </a:t>
            </a:r>
            <a:r>
              <a:rPr sz="2800" dirty="0" err="1"/>
              <a:t>зарплата</a:t>
            </a:r>
            <a:r>
              <a:rPr sz="2800" dirty="0"/>
              <a:t> </a:t>
            </a:r>
            <a:r>
              <a:rPr sz="2800" dirty="0" err="1"/>
              <a:t>зависит</a:t>
            </a:r>
            <a:r>
              <a:rPr sz="2800" dirty="0"/>
              <a:t> </a:t>
            </a:r>
            <a:r>
              <a:rPr sz="2800" dirty="0" err="1"/>
              <a:t>от</a:t>
            </a:r>
            <a:r>
              <a:rPr sz="2800" dirty="0"/>
              <a:t> </a:t>
            </a:r>
            <a:r>
              <a:rPr sz="2800" dirty="0" err="1"/>
              <a:t>уровня</a:t>
            </a:r>
            <a:r>
              <a:rPr sz="2800" dirty="0"/>
              <a:t> </a:t>
            </a:r>
            <a:r>
              <a:rPr sz="2800" dirty="0" err="1"/>
              <a:t>образования</a:t>
            </a:r>
            <a:endParaRPr sz="2800" dirty="0"/>
          </a:p>
        </p:txBody>
      </p:sp>
      <p:sp>
        <p:nvSpPr>
          <p:cNvPr id="4" name="TextBox 3"/>
          <p:cNvSpPr txBox="1"/>
          <p:nvPr/>
        </p:nvSpPr>
        <p:spPr>
          <a:xfrm>
            <a:off x="914400" y="1554480"/>
            <a:ext cx="73152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F0F0F0"/>
                </a:solidFill>
              </a:defRPr>
            </a:pPr>
            <a:r>
              <a:t>🔹 Гипотеза №1</a:t>
            </a:r>
          </a:p>
          <a:p>
            <a:pPr>
              <a:defRPr sz="1800">
                <a:solidFill>
                  <a:srgbClr val="F0F0F0"/>
                </a:solidFill>
              </a:defRPr>
            </a:pPr>
            <a:endParaRPr/>
          </a:p>
          <a:p>
            <a:pPr>
              <a:defRPr sz="1800">
                <a:solidFill>
                  <a:srgbClr val="F0F0F0"/>
                </a:solidFill>
              </a:defRPr>
            </a:pPr>
            <a:r>
              <a:t>Результаты анализа показали зависимость (или её отсутствие) между исследуемыми факторами.</a:t>
            </a:r>
          </a:p>
          <a:p>
            <a:pPr>
              <a:defRPr sz="1800">
                <a:solidFill>
                  <a:srgbClr val="F0F0F0"/>
                </a:solidFill>
              </a:defRPr>
            </a:pPr>
            <a:endParaRPr/>
          </a:p>
          <a:p>
            <a:pPr>
              <a:defRPr sz="1800">
                <a:solidFill>
                  <a:srgbClr val="F0F0F0"/>
                </a:solidFill>
              </a:defRPr>
            </a:pPr>
            <a:r>
              <a:t>См. визуализацию на графике ниже ⬇️</a:t>
            </a:r>
          </a:p>
        </p:txBody>
      </p:sp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169F47E8-6A7B-3462-7767-D9E5964E176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0" y="3576114"/>
            <a:ext cx="4572000" cy="2745988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E1E3C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4572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50AAFA"/>
                </a:solidFill>
              </a:defRPr>
            </a:pPr>
            <a:r>
              <a:t>2️⃣ Наличие судимости влияет на вероятность трудоустройства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554480"/>
            <a:ext cx="73152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F0F0F0"/>
                </a:solidFill>
              </a:defRPr>
            </a:pPr>
            <a:r>
              <a:t>🔹 Гипотеза №2</a:t>
            </a:r>
          </a:p>
          <a:p>
            <a:pPr>
              <a:defRPr sz="1800">
                <a:solidFill>
                  <a:srgbClr val="F0F0F0"/>
                </a:solidFill>
              </a:defRPr>
            </a:pPr>
            <a:endParaRPr/>
          </a:p>
          <a:p>
            <a:pPr>
              <a:defRPr sz="1800">
                <a:solidFill>
                  <a:srgbClr val="F0F0F0"/>
                </a:solidFill>
              </a:defRPr>
            </a:pPr>
            <a:r>
              <a:t>Результаты анализа показали зависимость (или её отсутствие) между исследуемыми факторами.</a:t>
            </a:r>
          </a:p>
          <a:p>
            <a:pPr>
              <a:defRPr sz="1800">
                <a:solidFill>
                  <a:srgbClr val="F0F0F0"/>
                </a:solidFill>
              </a:defRPr>
            </a:pPr>
            <a:endParaRPr/>
          </a:p>
          <a:p>
            <a:pPr>
              <a:defRPr sz="1800">
                <a:solidFill>
                  <a:srgbClr val="F0F0F0"/>
                </a:solidFill>
              </a:defRPr>
            </a:pPr>
            <a:r>
              <a:t>См. визуализацию на графике ниже ⬇️</a:t>
            </a:r>
          </a:p>
        </p:txBody>
      </p:sp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89209163-2ADC-2DA6-62E3-F29AD5D02B6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31527" y="3429000"/>
            <a:ext cx="3444617" cy="3427132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E1E3C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4572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50AAFA"/>
                </a:solidFill>
              </a:defRPr>
            </a:pPr>
            <a:r>
              <a:t>3️⃣ Возраст влияет на среднюю зарплату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554480"/>
            <a:ext cx="73152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F0F0F0"/>
                </a:solidFill>
              </a:defRPr>
            </a:pPr>
            <a:r>
              <a:t>🔹 Гипотеза №3</a:t>
            </a:r>
          </a:p>
          <a:p>
            <a:pPr>
              <a:defRPr sz="1800">
                <a:solidFill>
                  <a:srgbClr val="F0F0F0"/>
                </a:solidFill>
              </a:defRPr>
            </a:pPr>
            <a:endParaRPr/>
          </a:p>
          <a:p>
            <a:pPr>
              <a:defRPr sz="1800">
                <a:solidFill>
                  <a:srgbClr val="F0F0F0"/>
                </a:solidFill>
              </a:defRPr>
            </a:pPr>
            <a:r>
              <a:t>Результаты анализа показали зависимость (или её отсутствие) между исследуемыми факторами.</a:t>
            </a:r>
          </a:p>
          <a:p>
            <a:pPr>
              <a:defRPr sz="1800">
                <a:solidFill>
                  <a:srgbClr val="F0F0F0"/>
                </a:solidFill>
              </a:defRPr>
            </a:pPr>
            <a:endParaRPr/>
          </a:p>
          <a:p>
            <a:pPr>
              <a:defRPr sz="1800">
                <a:solidFill>
                  <a:srgbClr val="F0F0F0"/>
                </a:solidFill>
              </a:defRPr>
            </a:pPr>
            <a:r>
              <a:t>См. визуализацию на графике ниже ⬇️</a:t>
            </a:r>
          </a:p>
        </p:txBody>
      </p:sp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A81BF348-C333-54E7-DD96-F165014AE49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58977" y="3646164"/>
            <a:ext cx="5253952" cy="3147064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E1E3C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4572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50AAFA"/>
                </a:solidFill>
              </a:defRPr>
            </a:pPr>
            <a:r>
              <a:t>4️⃣ Уровень образования зависит от места проживания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554480"/>
            <a:ext cx="73152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F0F0F0"/>
                </a:solidFill>
              </a:defRPr>
            </a:pPr>
            <a:r>
              <a:t>🔹 Гипотеза №4</a:t>
            </a:r>
          </a:p>
          <a:p>
            <a:pPr>
              <a:defRPr sz="1800">
                <a:solidFill>
                  <a:srgbClr val="F0F0F0"/>
                </a:solidFill>
              </a:defRPr>
            </a:pPr>
            <a:endParaRPr/>
          </a:p>
          <a:p>
            <a:pPr>
              <a:defRPr sz="1800">
                <a:solidFill>
                  <a:srgbClr val="F0F0F0"/>
                </a:solidFill>
              </a:defRPr>
            </a:pPr>
            <a:r>
              <a:t>Результаты анализа показали зависимость (или её отсутствие) между исследуемыми факторами.</a:t>
            </a:r>
          </a:p>
          <a:p>
            <a:pPr>
              <a:defRPr sz="1800">
                <a:solidFill>
                  <a:srgbClr val="F0F0F0"/>
                </a:solidFill>
              </a:defRPr>
            </a:pPr>
            <a:endParaRPr/>
          </a:p>
          <a:p>
            <a:pPr>
              <a:defRPr sz="1800">
                <a:solidFill>
                  <a:srgbClr val="F0F0F0"/>
                </a:solidFill>
              </a:defRPr>
            </a:pPr>
            <a:r>
              <a:t>См. визуализацию на графике ниже ⬇️</a:t>
            </a:r>
          </a:p>
        </p:txBody>
      </p:sp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25533931-7FA5-5E3B-17DF-16EDBBEAE33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78898" y="3429000"/>
            <a:ext cx="5126636" cy="3057358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E1E3C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4572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50AAFA"/>
                </a:solidFill>
              </a:defRPr>
            </a:pPr>
            <a:r>
              <a:t>5️⃣ Средняя зарплата зависит от региона проживания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554480"/>
            <a:ext cx="73152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F0F0F0"/>
                </a:solidFill>
              </a:defRPr>
            </a:pPr>
            <a:r>
              <a:t>🔹 Гипотеза №5</a:t>
            </a:r>
          </a:p>
          <a:p>
            <a:pPr>
              <a:defRPr sz="1800">
                <a:solidFill>
                  <a:srgbClr val="F0F0F0"/>
                </a:solidFill>
              </a:defRPr>
            </a:pPr>
            <a:endParaRPr/>
          </a:p>
          <a:p>
            <a:pPr>
              <a:defRPr sz="1800">
                <a:solidFill>
                  <a:srgbClr val="F0F0F0"/>
                </a:solidFill>
              </a:defRPr>
            </a:pPr>
            <a:r>
              <a:t>Результаты анализа показали зависимость (или её отсутствие) между исследуемыми факторами.</a:t>
            </a:r>
          </a:p>
          <a:p>
            <a:pPr>
              <a:defRPr sz="1800">
                <a:solidFill>
                  <a:srgbClr val="F0F0F0"/>
                </a:solidFill>
              </a:defRPr>
            </a:pPr>
            <a:endParaRPr/>
          </a:p>
          <a:p>
            <a:pPr>
              <a:defRPr sz="1800">
                <a:solidFill>
                  <a:srgbClr val="F0F0F0"/>
                </a:solidFill>
              </a:defRPr>
            </a:pPr>
            <a:r>
              <a:t>См. визуализацию на графике ниже ⬇️</a:t>
            </a:r>
          </a:p>
        </p:txBody>
      </p:sp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0D56BA69-2B80-FBA5-B586-A45D5FE92E9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03948" y="3429000"/>
            <a:ext cx="5333162" cy="3196652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E1E3C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4572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50AAFA"/>
                </a:solidFill>
              </a:defRPr>
            </a:pPr>
            <a:r>
              <a:t>6️⃣ Вероятность судимости зависит от возраста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554480"/>
            <a:ext cx="73152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F0F0F0"/>
                </a:solidFill>
              </a:defRPr>
            </a:pPr>
            <a:r>
              <a:t>🔹 Гипотеза №6</a:t>
            </a:r>
          </a:p>
          <a:p>
            <a:pPr>
              <a:defRPr sz="1800">
                <a:solidFill>
                  <a:srgbClr val="F0F0F0"/>
                </a:solidFill>
              </a:defRPr>
            </a:pPr>
            <a:endParaRPr/>
          </a:p>
          <a:p>
            <a:pPr>
              <a:defRPr sz="1800">
                <a:solidFill>
                  <a:srgbClr val="F0F0F0"/>
                </a:solidFill>
              </a:defRPr>
            </a:pPr>
            <a:r>
              <a:t>Результаты анализа показали зависимость (или её отсутствие) между исследуемыми факторами.</a:t>
            </a:r>
          </a:p>
          <a:p>
            <a:pPr>
              <a:defRPr sz="1800">
                <a:solidFill>
                  <a:srgbClr val="F0F0F0"/>
                </a:solidFill>
              </a:defRPr>
            </a:pPr>
            <a:endParaRPr/>
          </a:p>
          <a:p>
            <a:pPr>
              <a:defRPr sz="1800">
                <a:solidFill>
                  <a:srgbClr val="F0F0F0"/>
                </a:solidFill>
              </a:defRPr>
            </a:pPr>
            <a:r>
              <a:t>См. визуализацию на графике ниже ⬇️</a:t>
            </a:r>
          </a:p>
        </p:txBody>
      </p:sp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42377992-C037-C624-77EC-CBFEBB889A8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44895" y="3429000"/>
            <a:ext cx="4270895" cy="3179293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E1E3C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4572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50AAFA"/>
                </a:solidFill>
              </a:defRPr>
            </a:pPr>
            <a:r>
              <a:t>7️⃣ Судимость зависит от уровня образования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554480"/>
            <a:ext cx="73152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F0F0F0"/>
                </a:solidFill>
              </a:defRPr>
            </a:pPr>
            <a:r>
              <a:t>🔹 Гипотеза №7</a:t>
            </a:r>
          </a:p>
          <a:p>
            <a:pPr>
              <a:defRPr sz="1800">
                <a:solidFill>
                  <a:srgbClr val="F0F0F0"/>
                </a:solidFill>
              </a:defRPr>
            </a:pPr>
            <a:endParaRPr/>
          </a:p>
          <a:p>
            <a:pPr>
              <a:defRPr sz="1800">
                <a:solidFill>
                  <a:srgbClr val="F0F0F0"/>
                </a:solidFill>
              </a:defRPr>
            </a:pPr>
            <a:r>
              <a:t>Результаты анализа показали зависимость (или её отсутствие) между исследуемыми факторами.</a:t>
            </a:r>
          </a:p>
          <a:p>
            <a:pPr>
              <a:defRPr sz="1800">
                <a:solidFill>
                  <a:srgbClr val="F0F0F0"/>
                </a:solidFill>
              </a:defRPr>
            </a:pPr>
            <a:endParaRPr/>
          </a:p>
          <a:p>
            <a:pPr>
              <a:defRPr sz="1800">
                <a:solidFill>
                  <a:srgbClr val="F0F0F0"/>
                </a:solidFill>
              </a:defRPr>
            </a:pPr>
            <a:r>
              <a:t>См. визуализацию на графике ниже ⬇️</a:t>
            </a:r>
          </a:p>
        </p:txBody>
      </p:sp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E051B49E-E8B1-B0E5-7400-CA18D1B1692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07175" y="3504917"/>
            <a:ext cx="4386417" cy="3241229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E1E3C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4572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50AAFA"/>
                </a:solidFill>
              </a:defRPr>
            </a:pPr>
            <a:r>
              <a:t>8️⃣ Наличие работы зависит от возраста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554480"/>
            <a:ext cx="73152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F0F0F0"/>
                </a:solidFill>
              </a:defRPr>
            </a:pPr>
            <a:r>
              <a:t>🔹 Гипотеза №8</a:t>
            </a:r>
          </a:p>
          <a:p>
            <a:pPr>
              <a:defRPr sz="1800">
                <a:solidFill>
                  <a:srgbClr val="F0F0F0"/>
                </a:solidFill>
              </a:defRPr>
            </a:pPr>
            <a:endParaRPr/>
          </a:p>
          <a:p>
            <a:pPr>
              <a:defRPr sz="1800">
                <a:solidFill>
                  <a:srgbClr val="F0F0F0"/>
                </a:solidFill>
              </a:defRPr>
            </a:pPr>
            <a:r>
              <a:t>Результаты анализа показали зависимость (или её отсутствие) между исследуемыми факторами.</a:t>
            </a:r>
          </a:p>
          <a:p>
            <a:pPr>
              <a:defRPr sz="1800">
                <a:solidFill>
                  <a:srgbClr val="F0F0F0"/>
                </a:solidFill>
              </a:defRPr>
            </a:pPr>
            <a:endParaRPr/>
          </a:p>
          <a:p>
            <a:pPr>
              <a:defRPr sz="1800">
                <a:solidFill>
                  <a:srgbClr val="F0F0F0"/>
                </a:solidFill>
              </a:defRPr>
            </a:pPr>
            <a:r>
              <a:t>См. визуализацию на графике ниже ⬇️</a:t>
            </a:r>
          </a:p>
        </p:txBody>
      </p:sp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A2FD9A89-8E06-213B-2CD3-8E7A5F0446A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14869" y="3429000"/>
            <a:ext cx="4447954" cy="3333135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E1E3C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4572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50AAFA"/>
                </a:solidFill>
              </a:defRPr>
            </a:pPr>
            <a:r>
              <a:t>9️⃣ Наличие работы зависит от уровня образования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554480"/>
            <a:ext cx="73152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F0F0F0"/>
                </a:solidFill>
              </a:defRPr>
            </a:pPr>
            <a:r>
              <a:t>🔹 Гипотеза №9</a:t>
            </a:r>
          </a:p>
          <a:p>
            <a:pPr>
              <a:defRPr sz="1800">
                <a:solidFill>
                  <a:srgbClr val="F0F0F0"/>
                </a:solidFill>
              </a:defRPr>
            </a:pPr>
            <a:endParaRPr/>
          </a:p>
          <a:p>
            <a:pPr>
              <a:defRPr sz="1800">
                <a:solidFill>
                  <a:srgbClr val="F0F0F0"/>
                </a:solidFill>
              </a:defRPr>
            </a:pPr>
            <a:r>
              <a:t>Результаты анализа показали зависимость (или её отсутствие) между исследуемыми факторами.</a:t>
            </a:r>
          </a:p>
          <a:p>
            <a:pPr>
              <a:defRPr sz="1800">
                <a:solidFill>
                  <a:srgbClr val="F0F0F0"/>
                </a:solidFill>
              </a:defRPr>
            </a:pPr>
            <a:endParaRPr/>
          </a:p>
          <a:p>
            <a:pPr>
              <a:defRPr sz="1800">
                <a:solidFill>
                  <a:srgbClr val="F0F0F0"/>
                </a:solidFill>
              </a:defRPr>
            </a:pPr>
            <a:r>
              <a:t>См. визуализацию на графике ниже ⬇️</a:t>
            </a:r>
          </a:p>
        </p:txBody>
      </p:sp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EC4AEACF-12B2-8A61-3F03-E6016C847E0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39055" y="3429000"/>
            <a:ext cx="5441430" cy="3238422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E1E3C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4572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50AAFA"/>
                </a:solidFill>
              </a:defRPr>
            </a:pPr>
            <a:r>
              <a:t>🔟 Средняя зарплата зависит от судимости и образования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554480"/>
            <a:ext cx="73152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F0F0F0"/>
                </a:solidFill>
              </a:defRPr>
            </a:pPr>
            <a:r>
              <a:t>🔹 Гипотеза №10</a:t>
            </a:r>
          </a:p>
          <a:p>
            <a:pPr>
              <a:defRPr sz="1800">
                <a:solidFill>
                  <a:srgbClr val="F0F0F0"/>
                </a:solidFill>
              </a:defRPr>
            </a:pPr>
            <a:endParaRPr/>
          </a:p>
          <a:p>
            <a:pPr>
              <a:defRPr sz="1800">
                <a:solidFill>
                  <a:srgbClr val="F0F0F0"/>
                </a:solidFill>
              </a:defRPr>
            </a:pPr>
            <a:r>
              <a:t>Результаты анализа показали зависимость (или её отсутствие) между исследуемыми факторами.</a:t>
            </a:r>
          </a:p>
          <a:p>
            <a:pPr>
              <a:defRPr sz="1800">
                <a:solidFill>
                  <a:srgbClr val="F0F0F0"/>
                </a:solidFill>
              </a:defRPr>
            </a:pPr>
            <a:endParaRPr/>
          </a:p>
          <a:p>
            <a:pPr>
              <a:defRPr sz="1800">
                <a:solidFill>
                  <a:srgbClr val="F0F0F0"/>
                </a:solidFill>
              </a:defRPr>
            </a:pPr>
            <a:r>
              <a:t>См. визуализацию на графике ниже ⬇️</a:t>
            </a:r>
          </a:p>
        </p:txBody>
      </p:sp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2587C7EE-797F-530F-5523-AE4BAD87887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86393" y="3429000"/>
            <a:ext cx="5276538" cy="3126442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E1E3C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4572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50AAFA"/>
                </a:solidFill>
              </a:defRPr>
            </a:pPr>
            <a:r>
              <a:t>11️⃣ Средняя зарплата зависит от типа населённого пункта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554480"/>
            <a:ext cx="73152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F0F0F0"/>
                </a:solidFill>
              </a:defRPr>
            </a:pPr>
            <a:r>
              <a:t>🔹 Гипотеза №11</a:t>
            </a:r>
          </a:p>
          <a:p>
            <a:pPr>
              <a:defRPr sz="1800">
                <a:solidFill>
                  <a:srgbClr val="F0F0F0"/>
                </a:solidFill>
              </a:defRPr>
            </a:pPr>
            <a:endParaRPr/>
          </a:p>
          <a:p>
            <a:pPr>
              <a:defRPr sz="1800">
                <a:solidFill>
                  <a:srgbClr val="F0F0F0"/>
                </a:solidFill>
              </a:defRPr>
            </a:pPr>
            <a:r>
              <a:t>Результаты анализа показали зависимость (или её отсутствие) между исследуемыми факторами.</a:t>
            </a:r>
          </a:p>
          <a:p>
            <a:pPr>
              <a:defRPr sz="1800">
                <a:solidFill>
                  <a:srgbClr val="F0F0F0"/>
                </a:solidFill>
              </a:defRPr>
            </a:pPr>
            <a:endParaRPr/>
          </a:p>
          <a:p>
            <a:pPr>
              <a:defRPr sz="1800">
                <a:solidFill>
                  <a:srgbClr val="F0F0F0"/>
                </a:solidFill>
              </a:defRPr>
            </a:pPr>
            <a:r>
              <a:t>См. визуализацию на графике ниже ⬇️</a:t>
            </a:r>
          </a:p>
        </p:txBody>
      </p:sp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F7ECF2E7-4494-DA78-282B-B054F512C06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56744" y="3429000"/>
            <a:ext cx="3389420" cy="3383694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E1E3C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4572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50AAFA"/>
                </a:solidFill>
              </a:defRPr>
            </a:pPr>
            <a:r>
              <a:t>12️⃣ Количество людей с высшим образованием зависит от региона проживания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554480"/>
            <a:ext cx="73152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F0F0F0"/>
                </a:solidFill>
              </a:defRPr>
            </a:pPr>
            <a:r>
              <a:t>🔹 Гипотеза №12</a:t>
            </a:r>
          </a:p>
          <a:p>
            <a:pPr>
              <a:defRPr sz="1800">
                <a:solidFill>
                  <a:srgbClr val="F0F0F0"/>
                </a:solidFill>
              </a:defRPr>
            </a:pPr>
            <a:endParaRPr/>
          </a:p>
          <a:p>
            <a:pPr>
              <a:defRPr sz="1800">
                <a:solidFill>
                  <a:srgbClr val="F0F0F0"/>
                </a:solidFill>
              </a:defRPr>
            </a:pPr>
            <a:r>
              <a:t>Результаты анализа показали зависимость (или её отсутствие) между исследуемыми факторами.</a:t>
            </a:r>
          </a:p>
          <a:p>
            <a:pPr>
              <a:defRPr sz="1800">
                <a:solidFill>
                  <a:srgbClr val="F0F0F0"/>
                </a:solidFill>
              </a:defRPr>
            </a:pPr>
            <a:endParaRPr/>
          </a:p>
          <a:p>
            <a:pPr>
              <a:defRPr sz="1800">
                <a:solidFill>
                  <a:srgbClr val="F0F0F0"/>
                </a:solidFill>
              </a:defRPr>
            </a:pPr>
            <a:r>
              <a:t>См. визуализацию на графике ниже ⬇️</a:t>
            </a:r>
          </a:p>
        </p:txBody>
      </p:sp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A301302A-C852-52DE-DCF9-AAF78C61C70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13810" y="3429000"/>
            <a:ext cx="5291528" cy="3152513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E1E3C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4572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50AAFA"/>
                </a:solidFill>
              </a:defRPr>
            </a:pPr>
            <a:r>
              <a:t>13️⃣ Средняя зарплата зависит от возраста и образования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554480"/>
            <a:ext cx="73152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F0F0F0"/>
                </a:solidFill>
              </a:defRPr>
            </a:pPr>
            <a:r>
              <a:t>🔹 Гипотеза №13</a:t>
            </a:r>
          </a:p>
          <a:p>
            <a:pPr>
              <a:defRPr sz="1800">
                <a:solidFill>
                  <a:srgbClr val="F0F0F0"/>
                </a:solidFill>
              </a:defRPr>
            </a:pPr>
            <a:endParaRPr/>
          </a:p>
          <a:p>
            <a:pPr>
              <a:defRPr sz="1800">
                <a:solidFill>
                  <a:srgbClr val="F0F0F0"/>
                </a:solidFill>
              </a:defRPr>
            </a:pPr>
            <a:r>
              <a:t>Результаты анализа показали зависимость (или её отсутствие) между исследуемыми факторами.</a:t>
            </a:r>
          </a:p>
          <a:p>
            <a:pPr>
              <a:defRPr sz="1800">
                <a:solidFill>
                  <a:srgbClr val="F0F0F0"/>
                </a:solidFill>
              </a:defRPr>
            </a:pPr>
            <a:endParaRPr/>
          </a:p>
          <a:p>
            <a:pPr>
              <a:defRPr sz="1800">
                <a:solidFill>
                  <a:srgbClr val="F0F0F0"/>
                </a:solidFill>
              </a:defRPr>
            </a:pPr>
            <a:r>
              <a:t>См. визуализацию на графике ниже ⬇️</a:t>
            </a:r>
          </a:p>
        </p:txBody>
      </p:sp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30403A81-5755-A4AD-9628-77FA5BDD0A9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49114" y="3429000"/>
            <a:ext cx="5741233" cy="3425002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E1E3C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4572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50AAFA"/>
                </a:solidFill>
              </a:defRPr>
            </a:pPr>
            <a:r>
              <a:t>14️⃣ Вероятность судимости зависит от занятости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554480"/>
            <a:ext cx="73152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F0F0F0"/>
                </a:solidFill>
              </a:defRPr>
            </a:pPr>
            <a:r>
              <a:t>🔹 Гипотеза №14</a:t>
            </a:r>
          </a:p>
          <a:p>
            <a:pPr>
              <a:defRPr sz="1800">
                <a:solidFill>
                  <a:srgbClr val="F0F0F0"/>
                </a:solidFill>
              </a:defRPr>
            </a:pPr>
            <a:endParaRPr/>
          </a:p>
          <a:p>
            <a:pPr>
              <a:defRPr sz="1800">
                <a:solidFill>
                  <a:srgbClr val="F0F0F0"/>
                </a:solidFill>
              </a:defRPr>
            </a:pPr>
            <a:r>
              <a:t>Результаты анализа показали зависимость (или её отсутствие) между исследуемыми факторами.</a:t>
            </a:r>
          </a:p>
          <a:p>
            <a:pPr>
              <a:defRPr sz="1800">
                <a:solidFill>
                  <a:srgbClr val="F0F0F0"/>
                </a:solidFill>
              </a:defRPr>
            </a:pPr>
            <a:endParaRPr/>
          </a:p>
          <a:p>
            <a:pPr>
              <a:defRPr sz="1800">
                <a:solidFill>
                  <a:srgbClr val="F0F0F0"/>
                </a:solidFill>
              </a:defRPr>
            </a:pPr>
            <a:r>
              <a:t>См. визуализацию на графике ниже ⬇️</a:t>
            </a:r>
          </a:p>
        </p:txBody>
      </p:sp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1FA1A8E9-35F7-379E-1AC1-581CD073B6C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29736" y="3429000"/>
            <a:ext cx="4431024" cy="3268323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E1E3C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4572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50AAFA"/>
                </a:solidFill>
              </a:defRPr>
            </a:pPr>
            <a:r>
              <a:t>15️⃣ Средняя зарплата зависит от судимости и возраста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554480"/>
            <a:ext cx="73152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F0F0F0"/>
                </a:solidFill>
              </a:defRPr>
            </a:pPr>
            <a:r>
              <a:t>🔹 Гипотеза №15</a:t>
            </a:r>
          </a:p>
          <a:p>
            <a:pPr>
              <a:defRPr sz="1800">
                <a:solidFill>
                  <a:srgbClr val="F0F0F0"/>
                </a:solidFill>
              </a:defRPr>
            </a:pPr>
            <a:endParaRPr/>
          </a:p>
          <a:p>
            <a:pPr>
              <a:defRPr sz="1800">
                <a:solidFill>
                  <a:srgbClr val="F0F0F0"/>
                </a:solidFill>
              </a:defRPr>
            </a:pPr>
            <a:r>
              <a:t>Результаты анализа показали зависимость (или её отсутствие) между исследуемыми факторами.</a:t>
            </a:r>
          </a:p>
          <a:p>
            <a:pPr>
              <a:defRPr sz="1800">
                <a:solidFill>
                  <a:srgbClr val="F0F0F0"/>
                </a:solidFill>
              </a:defRPr>
            </a:pPr>
            <a:endParaRPr/>
          </a:p>
          <a:p>
            <a:pPr>
              <a:defRPr sz="1800">
                <a:solidFill>
                  <a:srgbClr val="F0F0F0"/>
                </a:solidFill>
              </a:defRPr>
            </a:pPr>
            <a:r>
              <a:t>См. визуализацию на графике ниже ⬇️</a:t>
            </a:r>
          </a:p>
        </p:txBody>
      </p:sp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BEFE0FFA-5DE7-2027-42BE-5F419404397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59352" y="3504577"/>
            <a:ext cx="4036517" cy="3027387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E1E3C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1828800" y="2743200"/>
            <a:ext cx="54864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>
                <a:solidFill>
                  <a:srgbClr val="50AAFA"/>
                </a:solidFill>
              </a:defRPr>
            </a:pPr>
            <a:r>
              <a:t>🎯 Спасибо за внимание!</a:t>
            </a:r>
          </a:p>
          <a:p>
            <a:r>
              <a:t>Анализ выполнен автоматически с помощью Python и Pandas.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13</TotalTime>
  <Words>498</Words>
  <Application>Microsoft Office PowerPoint</Application>
  <PresentationFormat>Экран (4:3)</PresentationFormat>
  <Paragraphs>94</Paragraphs>
  <Slides>17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2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17</vt:i4>
      </vt:variant>
    </vt:vector>
  </HeadingPairs>
  <TitlesOfParts>
    <vt:vector size="20" baseType="lpstr">
      <vt:lpstr>Arial</vt:lpstr>
      <vt:lpstr>Calibri</vt:lpstr>
      <vt:lpstr>Office Theme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Артур Акматов</cp:lastModifiedBy>
  <cp:revision>2</cp:revision>
  <dcterms:created xsi:type="dcterms:W3CDTF">2013-01-27T09:14:16Z</dcterms:created>
  <dcterms:modified xsi:type="dcterms:W3CDTF">2025-11-02T04:20:10Z</dcterms:modified>
  <cp:category/>
</cp:coreProperties>
</file>